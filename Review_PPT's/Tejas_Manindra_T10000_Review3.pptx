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147470504" r:id="rId2"/>
    <p:sldId id="2147470505" r:id="rId3"/>
    <p:sldId id="2147470506" r:id="rId4"/>
    <p:sldId id="2147470491" r:id="rId5"/>
    <p:sldId id="2147470508" r:id="rId6"/>
    <p:sldId id="2147470494" r:id="rId7"/>
    <p:sldId id="2147470509" r:id="rId8"/>
    <p:sldId id="2147470510" r:id="rId9"/>
    <p:sldId id="2147470497" r:id="rId10"/>
    <p:sldId id="2147470499" r:id="rId11"/>
    <p:sldId id="2147470489" r:id="rId12"/>
    <p:sldId id="2147470507" r:id="rId13"/>
    <p:sldId id="2147470493" r:id="rId14"/>
    <p:sldId id="2147470511" r:id="rId15"/>
    <p:sldId id="2147470512" r:id="rId16"/>
    <p:sldId id="2147470513" r:id="rId17"/>
    <p:sldId id="2147470514" r:id="rId18"/>
    <p:sldId id="2147470515" r:id="rId19"/>
    <p:sldId id="2147470516" r:id="rId20"/>
    <p:sldId id="214747051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00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16E63-BB34-472F-9DD4-5187A1E5132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0DF37-C8C0-4DF9-9D88-1A3200620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87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065CE-C4BF-42A6-B56D-246455072C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95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Multilingual RAG for Government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Scheme and Eligibility Guidance</a:t>
            </a:r>
          </a:p>
          <a:p>
            <a:pPr lvl="0" algn="ctr">
              <a:defRPr/>
            </a:pP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Tejas Manindra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 (25MML1006)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T10000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50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22644" cy="4558078"/>
          </a:xfrm>
        </p:spPr>
        <p:txBody>
          <a:bodyPr/>
          <a:lstStyle/>
          <a:p>
            <a:r>
              <a:rPr lang="en-IN" b="0" dirty="0"/>
              <a:t>Government information is distributed across numerous official portals, documents, schemes, policies, and notifications, making it difficult for citizens to quickly find relevant and </a:t>
            </a:r>
            <a:r>
              <a:rPr lang="en-IN" b="0" dirty="0">
                <a:latin typeface="+mn-lt"/>
              </a:rPr>
              <a:t>reliable</a:t>
            </a:r>
            <a:r>
              <a:rPr lang="en-IN" b="0" dirty="0"/>
              <a:t> information.</a:t>
            </a:r>
          </a:p>
          <a:p>
            <a:r>
              <a:rPr lang="en-IN" b="0" dirty="0"/>
              <a:t>This project proposes a Multilingual Retrieval-Augmented Generation (RAG) system that combines information retrieval with Large Language Models (LLMs) to provide responses grounded in official government sources.</a:t>
            </a:r>
          </a:p>
          <a:p>
            <a:r>
              <a:rPr lang="en-IN" b="0" dirty="0"/>
              <a:t>The system focuses on Telugu and English, with an initial coverage of Telangana, Andhra Pradesh, and Central Government information, enabling users to access and understand government services and schemes through a reliable, user-friendly, and multilingual AI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5806440" y="57036"/>
            <a:ext cx="638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9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21145" cy="5219522"/>
          </a:xfrm>
        </p:spPr>
        <p:txBody>
          <a:bodyPr/>
          <a:lstStyle/>
          <a:p>
            <a:r>
              <a:rPr lang="en-IN" b="0" dirty="0">
                <a:latin typeface="+mn-lt"/>
              </a:rPr>
              <a:t>To develop a Multilingual Retrieval-Augmented Generation (RAG) system that enables citizens to efficiently access and understand accurate, contextual, and source-grounded government information in Telugu and English.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Primary Use Case</a:t>
            </a:r>
          </a:p>
          <a:p>
            <a:r>
              <a:rPr lang="en-IN" b="0" dirty="0">
                <a:latin typeface="+mn-lt"/>
              </a:rPr>
              <a:t>The system acts as an intelligent interface for discovering and understanding government schemes and services. Users can query information related to:</a:t>
            </a:r>
          </a:p>
          <a:p>
            <a:pPr lvl="0"/>
            <a:r>
              <a:rPr lang="en-IN" b="0" dirty="0">
                <a:latin typeface="+mn-lt"/>
              </a:rPr>
              <a:t>Scheme benefits and purpose</a:t>
            </a:r>
          </a:p>
          <a:p>
            <a:pPr lvl="0"/>
            <a:r>
              <a:rPr lang="en-IN" b="0" dirty="0">
                <a:latin typeface="+mn-lt"/>
              </a:rPr>
              <a:t>Eligibility criteria, Required documents</a:t>
            </a:r>
          </a:p>
          <a:p>
            <a:pPr lvl="0"/>
            <a:r>
              <a:rPr lang="en-IN" b="0" dirty="0">
                <a:latin typeface="+mn-lt"/>
              </a:rPr>
              <a:t>Application procedure</a:t>
            </a:r>
          </a:p>
          <a:p>
            <a:pPr lvl="0"/>
            <a:r>
              <a:rPr lang="en-IN" b="0" dirty="0">
                <a:latin typeface="+mn-lt"/>
              </a:rPr>
              <a:t>Deadlines and relevant conditions, Government services and policies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5666281" y="57036"/>
            <a:ext cx="65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411852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454078"/>
            <a:ext cx="11830817" cy="5279468"/>
          </a:xfrm>
        </p:spPr>
        <p:txBody>
          <a:bodyPr/>
          <a:lstStyle/>
          <a:p>
            <a:r>
              <a:rPr lang="en-IN" b="0" dirty="0">
                <a:latin typeface="+mn-lt"/>
              </a:rPr>
              <a:t>Module 1: Government Scheme Data Collection &amp; Knowledge Base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Collects and organizes verified government scheme information.</a:t>
            </a:r>
          </a:p>
          <a:p>
            <a:r>
              <a:rPr lang="en-IN" b="0" dirty="0">
                <a:latin typeface="+mn-lt"/>
              </a:rPr>
              <a:t>Module 2: Document Ingestion &amp; Preprocessing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Extracts, cleans, OCR-processes, and chunks government documents.</a:t>
            </a:r>
          </a:p>
          <a:p>
            <a:r>
              <a:rPr lang="en-IN" b="0" dirty="0">
                <a:latin typeface="+mn-lt"/>
              </a:rPr>
              <a:t>Module 3: Multilingual Query Understanding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Understands user queries in English/Telugu and identifies intent.</a:t>
            </a:r>
          </a:p>
          <a:p>
            <a:r>
              <a:rPr lang="en-IN" b="0" dirty="0">
                <a:latin typeface="+mn-lt"/>
              </a:rPr>
              <a:t>Module 4: Hybrid RAG Retrieval &amp; Reranking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Retrieves and ranks the most relevant scheme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5741233" y="57036"/>
            <a:ext cx="6450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9FEF-96F2-F63B-13C1-F8DA8492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7353BF-CFD9-2389-FCC6-F6035AA85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987" y="1484059"/>
            <a:ext cx="11830817" cy="5279468"/>
          </a:xfrm>
        </p:spPr>
        <p:txBody>
          <a:bodyPr/>
          <a:lstStyle/>
          <a:p>
            <a:r>
              <a:rPr lang="en-IN" b="0" dirty="0">
                <a:latin typeface="+mn-lt"/>
              </a:rPr>
              <a:t>Module 5: Eligibility Assessment &amp; Rule Engine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Matches user details against scheme-specific eligibility rules.</a:t>
            </a:r>
          </a:p>
          <a:p>
            <a:r>
              <a:rPr lang="en-IN" b="0" dirty="0">
                <a:latin typeface="+mn-lt"/>
              </a:rPr>
              <a:t>Module 6: LLM-Based Response Generation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Generates grounded, multilingual responses using retrieved context.</a:t>
            </a:r>
          </a:p>
          <a:p>
            <a:r>
              <a:rPr lang="en-IN" b="0" dirty="0">
                <a:latin typeface="+mn-lt"/>
              </a:rPr>
              <a:t>Module 7: Source Verification &amp; Update Management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Tracks official sources, scheme changes, deadlines, and versions.</a:t>
            </a:r>
          </a:p>
          <a:p>
            <a:r>
              <a:rPr lang="en-IN" b="0" dirty="0">
                <a:latin typeface="+mn-lt"/>
              </a:rPr>
              <a:t>Module 8: Multilingual User Interface</a:t>
            </a:r>
            <a:br>
              <a:rPr lang="en-IN" b="0" dirty="0">
                <a:latin typeface="+mn-lt"/>
              </a:rPr>
            </a:br>
            <a:r>
              <a:rPr lang="en-IN" b="0" dirty="0">
                <a:latin typeface="+mn-lt"/>
              </a:rPr>
              <a:t>Provides scheme search, eligibility checking, and personalized guidance.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5754E-3F74-F058-FC76-CD343D9BD95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7CD9E3-392A-10EE-761C-3BBC95B4BB2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CF763F-41F3-EDDF-4E2E-9F016478B7A2}"/>
              </a:ext>
            </a:extLst>
          </p:cNvPr>
          <p:cNvSpPr txBox="1"/>
          <p:nvPr/>
        </p:nvSpPr>
        <p:spPr>
          <a:xfrm>
            <a:off x="5786203" y="57036"/>
            <a:ext cx="6405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275226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79098"/>
            <a:ext cx="11826076" cy="4287144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Fragmented information: </a:t>
            </a:r>
            <a:r>
              <a:rPr lang="en-IN" b="0" dirty="0">
                <a:latin typeface="+mn-lt"/>
              </a:rPr>
              <a:t>Government scheme information is scattered across multiple portals and documents, making it difficult for citizens to find relevant schemes in one place.</a:t>
            </a:r>
          </a:p>
          <a:p>
            <a:pPr lvl="0"/>
            <a:r>
              <a:rPr lang="en-IN" dirty="0">
                <a:latin typeface="+mn-lt"/>
              </a:rPr>
              <a:t>Complex eligibility: </a:t>
            </a:r>
            <a:r>
              <a:rPr lang="en-IN" b="0" dirty="0">
                <a:latin typeface="+mn-lt"/>
              </a:rPr>
              <a:t>Eligibility criteria are often lengthy and difficult to understand, especially when users need to compare their personal details with multiple scheme requirements.</a:t>
            </a:r>
          </a:p>
          <a:p>
            <a:pPr lvl="0"/>
            <a:r>
              <a:rPr lang="en-IN" dirty="0">
                <a:latin typeface="+mn-lt"/>
              </a:rPr>
              <a:t>Language barrier: </a:t>
            </a:r>
            <a:r>
              <a:rPr lang="en-IN" b="0" dirty="0">
                <a:latin typeface="+mn-lt"/>
              </a:rPr>
              <a:t>Most government information is primarily available in English, creating accessibility challenges for Telugu-speaking citizens.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5756223" y="57036"/>
            <a:ext cx="6435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814" y="1271224"/>
            <a:ext cx="11376371" cy="439502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Data → Processing → Retrieval → Eligibility → Response</a:t>
            </a:r>
          </a:p>
          <a:p>
            <a:pPr marL="0" indent="0" algn="ctr">
              <a:buNone/>
            </a:pPr>
            <a:endParaRPr lang="en-IN" dirty="0"/>
          </a:p>
          <a:p>
            <a:r>
              <a:rPr lang="en-IN" dirty="0"/>
              <a:t>Data: </a:t>
            </a:r>
            <a:r>
              <a:rPr lang="en-IN" b="0" dirty="0"/>
              <a:t>Official Central, Telangana &amp; Andhra Pradesh scheme sources </a:t>
            </a:r>
          </a:p>
          <a:p>
            <a:r>
              <a:rPr lang="en-IN" dirty="0"/>
              <a:t>Processing: </a:t>
            </a:r>
            <a:r>
              <a:rPr lang="en-IN" b="0" dirty="0"/>
              <a:t>OCR, text cleaning, chunking &amp; metadata extraction </a:t>
            </a:r>
          </a:p>
          <a:p>
            <a:r>
              <a:rPr lang="en-IN" dirty="0"/>
              <a:t>Retrieval: </a:t>
            </a:r>
            <a:r>
              <a:rPr lang="en-IN" b="0" dirty="0"/>
              <a:t>BGE-M3 embeddings + Hybrid Search + Qdrant </a:t>
            </a:r>
          </a:p>
          <a:p>
            <a:r>
              <a:rPr lang="en-IN" dirty="0"/>
              <a:t>Eligibility: </a:t>
            </a:r>
            <a:r>
              <a:rPr lang="en-IN" b="0" dirty="0"/>
              <a:t>Rule-based deterministic eligibility engine </a:t>
            </a:r>
          </a:p>
          <a:p>
            <a:r>
              <a:rPr lang="en-IN" dirty="0"/>
              <a:t>Response: </a:t>
            </a:r>
            <a:r>
              <a:rPr lang="en-IN" b="0" dirty="0"/>
              <a:t>Gemma 3 12B / LLM + Streamlit, with grounded citations</a:t>
            </a:r>
          </a:p>
          <a:p>
            <a:r>
              <a:rPr lang="en-IN" dirty="0"/>
              <a:t>Key Design Principle: </a:t>
            </a:r>
            <a:r>
              <a:rPr lang="en-IN" b="0" i="1" dirty="0"/>
              <a:t>The eligibility is determined by the rule-based engine.</a:t>
            </a:r>
            <a:endParaRPr lang="en-IN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5786203" y="57036"/>
            <a:ext cx="6405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0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005" y="1234637"/>
            <a:ext cx="10624338" cy="4142989"/>
          </a:xfrm>
        </p:spPr>
        <p:txBody>
          <a:bodyPr/>
          <a:lstStyle/>
          <a:p>
            <a:pPr lvl="0"/>
            <a:endParaRPr lang="en-IN" b="0" dirty="0">
              <a:latin typeface="+mn-lt"/>
            </a:endParaRPr>
          </a:p>
          <a:p>
            <a:pPr lvl="0"/>
            <a:r>
              <a:rPr lang="en-IN" dirty="0">
                <a:latin typeface="+mn-lt"/>
              </a:rPr>
              <a:t>RAG: </a:t>
            </a:r>
            <a:r>
              <a:rPr lang="en-IN" b="0" dirty="0">
                <a:latin typeface="+mn-lt"/>
              </a:rPr>
              <a:t>Hybrid semantic + keyword retrieval</a:t>
            </a:r>
          </a:p>
          <a:p>
            <a:pPr lvl="0"/>
            <a:r>
              <a:rPr lang="en-IN" dirty="0">
                <a:latin typeface="+mn-lt"/>
              </a:rPr>
              <a:t>Embedding: </a:t>
            </a:r>
            <a:r>
              <a:rPr lang="en-IN" b="0" dirty="0">
                <a:latin typeface="+mn-lt"/>
              </a:rPr>
              <a:t>BGE-M3</a:t>
            </a:r>
          </a:p>
          <a:p>
            <a:pPr lvl="0"/>
            <a:r>
              <a:rPr lang="en-IN" dirty="0">
                <a:latin typeface="+mn-lt"/>
              </a:rPr>
              <a:t>Search: </a:t>
            </a:r>
            <a:r>
              <a:rPr lang="en-IN" b="0" dirty="0">
                <a:latin typeface="+mn-lt"/>
              </a:rPr>
              <a:t>Qdrant Vector Database + Reranking</a:t>
            </a:r>
          </a:p>
          <a:p>
            <a:pPr lvl="0"/>
            <a:r>
              <a:rPr lang="en-IN" dirty="0">
                <a:latin typeface="+mn-lt"/>
              </a:rPr>
              <a:t>Eligibility: </a:t>
            </a:r>
            <a:r>
              <a:rPr lang="en-IN" b="0" dirty="0">
                <a:latin typeface="+mn-lt"/>
              </a:rPr>
              <a:t>Rule-based decision engine</a:t>
            </a:r>
          </a:p>
          <a:p>
            <a:pPr lvl="0"/>
            <a:r>
              <a:rPr lang="en-IN" dirty="0">
                <a:latin typeface="+mn-lt"/>
              </a:rPr>
              <a:t>LLM: </a:t>
            </a:r>
            <a:r>
              <a:rPr lang="en-IN" b="0" dirty="0">
                <a:latin typeface="+mn-lt"/>
              </a:rPr>
              <a:t>Gemma 3 12B</a:t>
            </a:r>
          </a:p>
          <a:p>
            <a:pPr lvl="0"/>
            <a:r>
              <a:rPr lang="en-IN" dirty="0">
                <a:latin typeface="+mn-lt"/>
              </a:rPr>
              <a:t>Frontend: </a:t>
            </a:r>
            <a:r>
              <a:rPr lang="en-IN" b="0" dirty="0">
                <a:latin typeface="+mn-lt"/>
              </a:rPr>
              <a:t>Streamlit</a:t>
            </a:r>
          </a:p>
          <a:p>
            <a:pPr lvl="0"/>
            <a:r>
              <a:rPr lang="en-IN" dirty="0">
                <a:latin typeface="+mn-lt"/>
              </a:rPr>
              <a:t>Data: </a:t>
            </a:r>
            <a:r>
              <a:rPr lang="en-IN" b="0" dirty="0">
                <a:latin typeface="+mn-lt"/>
              </a:rPr>
              <a:t>Python, OCR &amp; PostgreSQL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5831174" y="57036"/>
            <a:ext cx="6360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  <a:endParaRPr lang="en-IN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BC53D-F814-635F-D6B2-0B0FBFF959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6" b="1000"/>
          <a:stretch>
            <a:fillRect/>
          </a:stretch>
        </p:blipFill>
        <p:spPr>
          <a:xfrm>
            <a:off x="221275" y="1376363"/>
            <a:ext cx="11695906" cy="424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14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987" y="1594385"/>
            <a:ext cx="11256450" cy="4529972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1,351 scheme records successfully processed from Central, Telangana &amp; Andhra Pradesh sources.</a:t>
            </a:r>
          </a:p>
          <a:p>
            <a:pPr lvl="0"/>
            <a:r>
              <a:rPr lang="en-IN" b="0" dirty="0">
                <a:latin typeface="+mn-lt"/>
              </a:rPr>
              <a:t>45 unique government schemes indexed for multilingual retrieval.</a:t>
            </a:r>
          </a:p>
          <a:p>
            <a:pPr lvl="0"/>
            <a:r>
              <a:rPr lang="en-IN" b="0" dirty="0">
                <a:latin typeface="+mn-lt"/>
              </a:rPr>
              <a:t>BGE-M3 + Hybrid Search + Qdrant retrieves relevant schemes from user queries in English and Telugu.</a:t>
            </a:r>
          </a:p>
          <a:p>
            <a:pPr lvl="0"/>
            <a:r>
              <a:rPr lang="en-IN" b="0" dirty="0">
                <a:latin typeface="+mn-lt"/>
              </a:rPr>
              <a:t>Rule-based eligibility engine classifies conditions as PASS, FAIL, or UNKNOWN, avoiding unsupported eligibility claims.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5666283" y="57036"/>
            <a:ext cx="6525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046588" cy="4679873"/>
          </a:xfrm>
        </p:spPr>
        <p:txBody>
          <a:bodyPr/>
          <a:lstStyle/>
          <a:p>
            <a:pPr lvl="0"/>
            <a:r>
              <a:rPr lang="en-IN" b="0" dirty="0" err="1">
                <a:latin typeface="+mn-lt"/>
              </a:rPr>
              <a:t>MultiRAG</a:t>
            </a:r>
            <a:r>
              <a:rPr lang="en-IN" b="0" dirty="0">
                <a:latin typeface="+mn-lt"/>
              </a:rPr>
              <a:t> provides a unified platform to discover relevant government schemes from Central, Telangana and Andhra Pradesh sources.</a:t>
            </a:r>
          </a:p>
          <a:p>
            <a:pPr lvl="0"/>
            <a:r>
              <a:rPr lang="en-IN" b="0" dirty="0">
                <a:latin typeface="+mn-lt"/>
              </a:rPr>
              <a:t>The combination of multilingual RAG and deterministic eligibility evaluation provides relevant and reliable scheme guidance.</a:t>
            </a:r>
          </a:p>
          <a:p>
            <a:pPr lvl="0"/>
            <a:r>
              <a:rPr lang="en-IN" b="0" dirty="0">
                <a:latin typeface="+mn-lt"/>
              </a:rPr>
              <a:t>English and Telugu support improves accessibility and helps citizens understand schemes and eligibility requirements more easily.</a:t>
            </a:r>
          </a:p>
          <a:p>
            <a:pPr lvl="0"/>
            <a:r>
              <a:rPr lang="en-IN" b="0" dirty="0">
                <a:latin typeface="+mn-lt"/>
              </a:rPr>
              <a:t>The system delivers grounded, source-backed responses, reducing misinformation and simplifying access to government welfare information.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5741233" y="57036"/>
            <a:ext cx="645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Agentic AI for Business Intelligence,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Insights and Strategic Recommendations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Tejas Manindra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 (25MML1006)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T10000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5390"/>
            <a:ext cx="11826076" cy="5084232"/>
          </a:xfrm>
        </p:spPr>
        <p:txBody>
          <a:bodyPr/>
          <a:lstStyle/>
          <a:p>
            <a:r>
              <a:rPr lang="en-IN" b="0" dirty="0">
                <a:latin typeface="+mn-lt"/>
              </a:rPr>
              <a:t>E-commerce businesses generate large volumes of business data from orders, customers, products, marketing, inventory, and returns. </a:t>
            </a:r>
          </a:p>
          <a:p>
            <a:pPr lvl="0"/>
            <a:r>
              <a:rPr lang="en-IN" b="0" dirty="0">
                <a:latin typeface="+mn-lt"/>
              </a:rPr>
              <a:t>Business leaders need quick and accurate insights to make strategic decisions. </a:t>
            </a:r>
          </a:p>
          <a:p>
            <a:pPr lvl="0"/>
            <a:r>
              <a:rPr lang="en-IN" b="0" dirty="0">
                <a:latin typeface="+mn-lt"/>
              </a:rPr>
              <a:t>Traditional BI systems mainly provide dashboards and reports, requiring manual analysis. </a:t>
            </a:r>
          </a:p>
          <a:p>
            <a:pPr lvl="0"/>
            <a:r>
              <a:rPr lang="en-IN" b="0" dirty="0">
                <a:latin typeface="+mn-lt"/>
              </a:rPr>
              <a:t>Our system uses Agentic AI to automatically analyze data, identify insights, and find root causes. </a:t>
            </a:r>
          </a:p>
          <a:p>
            <a:pPr lvl="0"/>
            <a:r>
              <a:rPr lang="en-IN" b="0" dirty="0">
                <a:latin typeface="+mn-lt"/>
              </a:rPr>
              <a:t>It provides KPIs, visualizations, business insights, and strategic recommendations to support faster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098623" y="57036"/>
            <a:ext cx="1009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7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0847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an Agentic AI-powered BI system for e-commerce business analysis. </a:t>
            </a:r>
          </a:p>
          <a:p>
            <a:pPr lvl="0"/>
            <a:r>
              <a:rPr lang="en-IN" b="0" dirty="0">
                <a:latin typeface="+mn-lt"/>
              </a:rPr>
              <a:t>Automate data analysis from orders, customers, products, marketing, inventory, and other business data. </a:t>
            </a:r>
          </a:p>
          <a:p>
            <a:pPr lvl="0"/>
            <a:r>
              <a:rPr lang="en-IN" b="0" dirty="0">
                <a:latin typeface="+mn-lt"/>
              </a:rPr>
              <a:t>Generate meaningful business insights and identify the root causes behind KPI changes. </a:t>
            </a:r>
          </a:p>
          <a:p>
            <a:pPr lvl="0"/>
            <a:r>
              <a:rPr lang="en-IN" b="0" dirty="0">
                <a:latin typeface="+mn-lt"/>
              </a:rPr>
              <a:t>Provide strategic, actionable recommendations to support business decisions. </a:t>
            </a:r>
          </a:p>
          <a:p>
            <a:pPr lvl="0"/>
            <a:r>
              <a:rPr lang="en-IN" b="0" dirty="0">
                <a:latin typeface="+mn-lt"/>
              </a:rPr>
              <a:t>Enable faster decision-making through KPIs, visualizations, AI insights, and automated reports.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353456" y="57036"/>
            <a:ext cx="983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28F57-0CA5-7D66-9A41-5F62A054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B83543-8AE3-E60A-1AAA-7CE80544A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7114" y="1344601"/>
            <a:ext cx="11397771" cy="5010854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Natural Language Query &amp; Understanding </a:t>
            </a:r>
          </a:p>
          <a:p>
            <a:pPr marL="457200" lvl="1" indent="0">
              <a:buNone/>
            </a:pPr>
            <a:r>
              <a:rPr lang="en-IN" sz="2800" dirty="0">
                <a:solidFill>
                  <a:schemeClr val="accent1"/>
                </a:solidFill>
              </a:rPr>
              <a:t>Understand business questions asked in natural language.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AI-Based SQL Generation &amp; Data Retrieval </a:t>
            </a:r>
          </a:p>
          <a:p>
            <a:pPr marL="457200" lvl="1" indent="0">
              <a:buNone/>
            </a:pPr>
            <a:r>
              <a:rPr lang="en-IN" sz="2800" dirty="0">
                <a:solidFill>
                  <a:schemeClr val="accent1"/>
                </a:solidFill>
              </a:rPr>
              <a:t>Convert questions into SQL queries and retrieve relevant data from PostgreSQL.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Data Analysis &amp; Visualization </a:t>
            </a:r>
          </a:p>
          <a:p>
            <a:pPr marL="457200" lvl="1" indent="0">
              <a:buNone/>
            </a:pPr>
            <a:r>
              <a:rPr lang="en-IN" sz="2800" dirty="0">
                <a:solidFill>
                  <a:schemeClr val="accent1"/>
                </a:solidFill>
              </a:rPr>
              <a:t>Generate KPIs, trends, charts, and executive dashboards.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AI Insights &amp; Root Cause Analysis </a:t>
            </a:r>
          </a:p>
          <a:p>
            <a:pPr marL="457200" lvl="1" indent="0">
              <a:buNone/>
            </a:pPr>
            <a:r>
              <a:rPr lang="en-IN" sz="2800" dirty="0">
                <a:solidFill>
                  <a:schemeClr val="accent1"/>
                </a:solidFill>
              </a:rPr>
              <a:t>Identify business problems, explain </a:t>
            </a:r>
            <a:r>
              <a:rPr lang="en-IN" sz="2800" b="1" dirty="0">
                <a:solidFill>
                  <a:schemeClr val="accent1"/>
                </a:solidFill>
              </a:rPr>
              <a:t>why they occurred</a:t>
            </a:r>
            <a:r>
              <a:rPr lang="en-IN" sz="2800" dirty="0">
                <a:solidFill>
                  <a:schemeClr val="accent1"/>
                </a:solidFill>
              </a:rPr>
              <a:t>, and analyze their impact.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0FE61-9C3F-0B4B-BB5E-4C1641E432D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D7BA86-32E8-9998-4A81-A8D53307BB67}"/>
              </a:ext>
            </a:extLst>
          </p:cNvPr>
          <p:cNvCxnSpPr>
            <a:cxnSpLocks/>
          </p:cNvCxnSpPr>
          <p:nvPr/>
        </p:nvCxnSpPr>
        <p:spPr>
          <a:xfrm>
            <a:off x="255995" y="114887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7DF884-5225-3B07-2EEA-500ECC19692F}"/>
              </a:ext>
            </a:extLst>
          </p:cNvPr>
          <p:cNvSpPr txBox="1"/>
          <p:nvPr/>
        </p:nvSpPr>
        <p:spPr>
          <a:xfrm>
            <a:off x="2053652" y="57036"/>
            <a:ext cx="101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697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28F57-0CA5-7D66-9A41-5F62A054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B83543-8AE3-E60A-1AAA-7CE80544A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7932" y="1344601"/>
            <a:ext cx="11736136" cy="5010854"/>
          </a:xfrm>
        </p:spPr>
        <p:txBody>
          <a:bodyPr/>
          <a:lstStyle/>
          <a:p>
            <a:pPr marL="457200" lvl="0" indent="-457200">
              <a:buFont typeface="+mj-lt"/>
              <a:buAutoNum type="arabicPeriod" startAt="5"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Strategic Recommendations </a:t>
            </a:r>
          </a:p>
          <a:p>
            <a:pPr marL="457200" lvl="1" indent="0">
              <a:buNone/>
            </a:pPr>
            <a:r>
              <a:rPr lang="en-IN" sz="2800" dirty="0">
                <a:solidFill>
                  <a:schemeClr val="accent1"/>
                </a:solidFill>
              </a:rPr>
              <a:t>Provide actionable recommendations based on insights and business performance. </a:t>
            </a:r>
          </a:p>
          <a:p>
            <a:pPr marL="457200" lvl="0" indent="-457200">
              <a:buFont typeface="+mj-lt"/>
              <a:buAutoNum type="arabicPeriod" startAt="5"/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Automated Reporting &amp; CI/CD </a:t>
            </a:r>
          </a:p>
          <a:p>
            <a:pPr marL="457200" lvl="1" indent="0">
              <a:buNone/>
            </a:pPr>
            <a:r>
              <a:rPr lang="en-IN" sz="2800" dirty="0">
                <a:solidFill>
                  <a:schemeClr val="accent1"/>
                </a:solidFill>
              </a:rPr>
              <a:t>Generate PDF/email reports and support automated </a:t>
            </a:r>
            <a:r>
              <a:rPr lang="en-IN" sz="2800" b="1" dirty="0">
                <a:solidFill>
                  <a:schemeClr val="accent1"/>
                </a:solidFill>
              </a:rPr>
              <a:t>CI/CD deployment</a:t>
            </a:r>
            <a:r>
              <a:rPr lang="en-IN" sz="2800" dirty="0">
                <a:solidFill>
                  <a:schemeClr val="accent1"/>
                </a:solidFill>
              </a:rPr>
              <a:t> of the application.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0FE61-9C3F-0B4B-BB5E-4C1641E432D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D7BA86-32E8-9998-4A81-A8D53307BB67}"/>
              </a:ext>
            </a:extLst>
          </p:cNvPr>
          <p:cNvCxnSpPr>
            <a:cxnSpLocks/>
          </p:cNvCxnSpPr>
          <p:nvPr/>
        </p:nvCxnSpPr>
        <p:spPr>
          <a:xfrm>
            <a:off x="255995" y="114887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7DF884-5225-3B07-2EEA-500ECC19692F}"/>
              </a:ext>
            </a:extLst>
          </p:cNvPr>
          <p:cNvSpPr txBox="1"/>
          <p:nvPr/>
        </p:nvSpPr>
        <p:spPr>
          <a:xfrm>
            <a:off x="2053652" y="57036"/>
            <a:ext cx="1013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815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AC5E-1B1B-C821-5F45-33D8D9E9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6CD97B-6E54-3C75-B566-7349808AAC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55410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E-commerce businesses generate large volumes of data across sales, customers, inventory, returns, and marketing.</a:t>
            </a:r>
          </a:p>
          <a:p>
            <a:pPr lvl="0"/>
            <a:r>
              <a:rPr lang="en-IN" b="0" dirty="0">
                <a:latin typeface="+mn-lt"/>
              </a:rPr>
              <a:t>Traditional BI dashboards require manual analysis to understand business performance.</a:t>
            </a:r>
          </a:p>
          <a:p>
            <a:pPr lvl="0"/>
            <a:r>
              <a:rPr lang="en-IN" b="0" dirty="0">
                <a:latin typeface="+mn-lt"/>
              </a:rPr>
              <a:t>Identifying the root causes of declining profits and poor marketing performance is challenging.</a:t>
            </a:r>
          </a:p>
          <a:p>
            <a:pPr lvl="0"/>
            <a:r>
              <a:rPr lang="en-IN" b="0" dirty="0">
                <a:latin typeface="+mn-lt"/>
              </a:rPr>
              <a:t>Manual analysis delays decision-making and limits the identification of growth opportunities.</a:t>
            </a:r>
          </a:p>
          <a:p>
            <a:pPr lvl="0"/>
            <a:r>
              <a:rPr lang="en-IN" b="0" dirty="0">
                <a:latin typeface="+mn-lt"/>
              </a:rPr>
              <a:t>Proposed Solution: An Agentic AI-powered BI system that delivers visual insights, root-cause analysis, and actionable strategic recommendations for faster, data-driven decisions.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BAA3D-B619-FBC8-D2FF-98F990137E0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87E163-8BE8-A52B-B64E-88A7C3EBB8D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662FEAD-81D8-DE3B-7182-0395F94E737F}"/>
              </a:ext>
            </a:extLst>
          </p:cNvPr>
          <p:cNvSpPr txBox="1"/>
          <p:nvPr/>
        </p:nvSpPr>
        <p:spPr>
          <a:xfrm>
            <a:off x="3642610" y="57036"/>
            <a:ext cx="8549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0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ABDF-49E2-BC7B-DF7C-5F5E1D59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67A031-EDC8-BA9C-314B-A9128C25DC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5840004" cy="4395020"/>
          </a:xfrm>
        </p:spPr>
        <p:txBody>
          <a:bodyPr/>
          <a:lstStyle/>
          <a:p>
            <a:pPr marL="0" indent="0">
              <a:buNone/>
            </a:pP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31B11-3089-A755-5834-EE3CAECE647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DACAA2-BE1A-8514-A87E-83770CC9E03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7B035B9-7494-CE48-9AB5-9B97FC78A27A}"/>
              </a:ext>
            </a:extLst>
          </p:cNvPr>
          <p:cNvSpPr txBox="1"/>
          <p:nvPr/>
        </p:nvSpPr>
        <p:spPr>
          <a:xfrm>
            <a:off x="3570514" y="57036"/>
            <a:ext cx="8621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0538D7-D0D3-3B6F-0044-55E2C3F7A5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5"/>
          <a:stretch>
            <a:fillRect/>
          </a:stretch>
        </p:blipFill>
        <p:spPr>
          <a:xfrm>
            <a:off x="221274" y="1902930"/>
            <a:ext cx="11817246" cy="335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67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BEFBF-19C3-09A4-12D3-B0E54A61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742C3E-08FF-B655-7792-C9919AA86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754" y="1271219"/>
            <a:ext cx="11572406" cy="5260207"/>
          </a:xfrm>
        </p:spPr>
        <p:txBody>
          <a:bodyPr/>
          <a:lstStyle/>
          <a:p>
            <a:pPr lvl="0"/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8AEE8-428B-85D6-8D9F-D1DE739377B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4EA33E-7826-5268-4FD3-4FF215A2CB2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A605CA9-250C-E7AE-8B66-5424B06F1280}"/>
              </a:ext>
            </a:extLst>
          </p:cNvPr>
          <p:cNvSpPr txBox="1"/>
          <p:nvPr/>
        </p:nvSpPr>
        <p:spPr>
          <a:xfrm>
            <a:off x="3777521" y="57036"/>
            <a:ext cx="8414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3DD27-948B-5CC0-37A1-9F34170FF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664"/>
            <a:ext cx="12192000" cy="511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37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126B9-25D1-557B-8A26-68BB695D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7A5E9A-737E-F6C1-24E9-6CB5DFAD16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89261" cy="4142989"/>
          </a:xfrm>
        </p:spPr>
        <p:txBody>
          <a:bodyPr/>
          <a:lstStyle/>
          <a:p>
            <a:r>
              <a:rPr lang="en-IN" b="0" dirty="0">
                <a:latin typeface="+mn-lt"/>
              </a:rPr>
              <a:t>Integrated multiple e-commerce datasets covering sales, customers, products, marketing, inventory, returns, payments, and delivery.</a:t>
            </a:r>
          </a:p>
          <a:p>
            <a:r>
              <a:rPr lang="en-IN" b="0" dirty="0">
                <a:latin typeface="+mn-lt"/>
              </a:rPr>
              <a:t>Developed a PostgreSQL-based data management system for efficient data storage, retrieval, and business analysis.</a:t>
            </a:r>
          </a:p>
          <a:p>
            <a:r>
              <a:rPr lang="en-IN" b="0" dirty="0">
                <a:latin typeface="+mn-lt"/>
              </a:rPr>
              <a:t>Implemented AI agents to understand natural-language queries, retrieve relevant data, and analyze business performance.</a:t>
            </a:r>
          </a:p>
          <a:p>
            <a:r>
              <a:rPr lang="en-IN" b="0" dirty="0">
                <a:latin typeface="+mn-lt"/>
              </a:rPr>
              <a:t>Developed an executive dashboard displaying KPIs, visualizations, business insights, root-cause analysis, and prioritized strategic recommendations.</a:t>
            </a:r>
          </a:p>
          <a:p>
            <a:r>
              <a:rPr lang="en-IN" b="0" dirty="0">
                <a:latin typeface="+mn-lt"/>
              </a:rPr>
              <a:t>Integrated PDF report generation to present and share business insights, analytical findings, and actionable recommendations.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28569A-24CA-B01A-F625-FCDC5C676F8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5764BB-EF37-9CA0-93CC-B55B0F99FF0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3AAB2C-A2FA-1F99-0421-9E06394FF436}"/>
              </a:ext>
            </a:extLst>
          </p:cNvPr>
          <p:cNvSpPr txBox="1"/>
          <p:nvPr/>
        </p:nvSpPr>
        <p:spPr>
          <a:xfrm>
            <a:off x="3672591" y="57036"/>
            <a:ext cx="8519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98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3249D-8738-FF2F-2E67-EF8636B7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A0197A-C013-0595-965E-4897906189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268347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The project demonstrates the use of Agentic AI to transform e-commerce data into meaningful business insights and strategic recommendations.</a:t>
            </a:r>
          </a:p>
          <a:p>
            <a:pPr lvl="0"/>
            <a:r>
              <a:rPr lang="en-IN" b="0" dirty="0">
                <a:latin typeface="+mn-lt"/>
              </a:rPr>
              <a:t>Integration of PostgreSQL and multiple specialized AI agents enables natural-language querying, data analysis, and root-cause investigation.</a:t>
            </a:r>
          </a:p>
          <a:p>
            <a:pPr lvl="0"/>
            <a:r>
              <a:rPr lang="en-IN" b="0" dirty="0">
                <a:latin typeface="+mn-lt"/>
              </a:rPr>
              <a:t>The executive dashboard presents key performance indicators, visualizations, and actionable insights to support data-driven decision-making.</a:t>
            </a:r>
          </a:p>
          <a:p>
            <a:pPr lvl="0"/>
            <a:r>
              <a:rPr lang="en-IN" b="0" dirty="0">
                <a:latin typeface="+mn-lt"/>
              </a:rPr>
              <a:t>Overall, the proposed system aims to help business owners make faster, smarter, and more informed strategic decisions through AI-powered business intelligence.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7AE97-D69D-C4B0-761F-B188803D13D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FE2F68-7838-C3EA-F64B-341AA410A3E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72EBE9-91C5-002A-8796-E43E174CDD4E}"/>
              </a:ext>
            </a:extLst>
          </p:cNvPr>
          <p:cNvSpPr txBox="1"/>
          <p:nvPr/>
        </p:nvSpPr>
        <p:spPr>
          <a:xfrm>
            <a:off x="3792511" y="57036"/>
            <a:ext cx="8399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Agentic AI for Business Intelligence, Insights and Strategic Recommendations</a:t>
            </a:r>
            <a:endParaRPr lang="en-US" b="1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04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2299</TotalTime>
  <Words>1432</Words>
  <Application>Microsoft Office PowerPoint</Application>
  <PresentationFormat>Widescreen</PresentationFormat>
  <Paragraphs>154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Tejas Manindra Mudapaka</cp:lastModifiedBy>
  <cp:revision>40</cp:revision>
  <dcterms:created xsi:type="dcterms:W3CDTF">2024-05-13T10:33:11Z</dcterms:created>
  <dcterms:modified xsi:type="dcterms:W3CDTF">2026-10-09T05:20:44Z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